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 himself: Josef Sudek, born in 1896, who lived and worked almost his entire life in Prague. He made every one of his photographs with a single hand, using a heavy large-format camera. Keep his face in mind as we look at how he turned a wartime injury into one of the most poetic styles in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source and licensing for each image here. Use public-domain or properly licensed reproductions only, and verify each title and year against the holding institution before presenting.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822960" y="1005840"/>
            <a:ext cx="4206240" cy="484632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1">
                <a:solidFill>
                  <a:srgbClr val="6E6A63"/>
                </a:solidFill>
                <a:latin typeface="Calibri"/>
              </a:rPr>
              <a:t>[ Portrait of Josef Sudek — insert image here ]</a:t>
            </a:r>
          </a:p>
        </p:txBody>
      </p:sp>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1.png"/>
          <p:cNvPicPr>
            <a:picLocks noChangeAspect="1"/>
          </p:cNvPicPr>
          <p:nvPr/>
        </p:nvPicPr>
        <p:blipFill>
          <a:blip r:embed="rId2"/>
          <a:stretch>
            <a:fillRect/>
          </a:stretch>
        </p:blipFill>
        <p:spPr>
          <a:xfrm>
            <a:off x="640080" y="1286416"/>
            <a:ext cx="7680959" cy="428516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6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7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8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9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10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11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91440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69164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0152" cy="4206240"/>
          </a:xfrm>
          <a:prstGeom prst="rect">
            <a:avLst/>
          </a:prstGeom>
          <a:noFill/>
        </p:spPr>
        <p:txBody>
          <a:bodyPr wrap="square" anchor="t">
            <a:spAutoFit/>
          </a:bodyPr>
          <a:lstStyle/>
          <a:p>
            <a:pPr>
              <a:spcAft>
                <a:spcPts val="400"/>
              </a:spcAft>
            </a:pPr>
            <a:r>
              <a:rPr sz="1200" b="0" i="0">
                <a:solidFill>
                  <a:srgbClr val="202020"/>
                </a:solidFill>
                <a:latin typeface="Calibri"/>
              </a:rPr>
              <a:t>1. Saint Vitus Cathedral, interior (c. 1924–1928) — source / license: ____</a:t>
            </a:r>
          </a:p>
          <a:p>
            <a:pPr>
              <a:spcAft>
                <a:spcPts val="400"/>
              </a:spcAft>
            </a:pPr>
            <a:r>
              <a:rPr sz="1200" b="0" i="0">
                <a:solidFill>
                  <a:srgbClr val="202020"/>
                </a:solidFill>
                <a:latin typeface="Calibri"/>
              </a:rPr>
              <a:t>2. Prague Panorama, misty city (c. 1950s–1960s) — source / license: ____</a:t>
            </a:r>
          </a:p>
          <a:p>
            <a:pPr>
              <a:spcAft>
                <a:spcPts val="400"/>
              </a:spcAft>
            </a:pPr>
            <a:r>
              <a:rPr sz="1200" b="0" i="0">
                <a:solidFill>
                  <a:srgbClr val="202020"/>
                </a:solidFill>
                <a:latin typeface="Calibri"/>
              </a:rPr>
              <a:t>3. Prague at Night (c. 1950s) — source / license: ____</a:t>
            </a:r>
          </a:p>
          <a:p>
            <a:pPr>
              <a:spcAft>
                <a:spcPts val="400"/>
              </a:spcAft>
            </a:pPr>
            <a:r>
              <a:rPr sz="1200" b="0" i="0">
                <a:solidFill>
                  <a:srgbClr val="202020"/>
                </a:solidFill>
                <a:latin typeface="Calibri"/>
              </a:rPr>
              <a:t>4. Mionší Forest, mist in the woods (c. 1950s) — source / license: ____</a:t>
            </a:r>
          </a:p>
          <a:p>
            <a:pPr>
              <a:spcAft>
                <a:spcPts val="400"/>
              </a:spcAft>
            </a:pPr>
            <a:r>
              <a:rPr sz="1200" b="0" i="0">
                <a:solidFill>
                  <a:srgbClr val="202020"/>
                </a:solidFill>
                <a:latin typeface="Calibri"/>
              </a:rPr>
              <a:t>5. The Window of My Studio (c. 1940–1948) — source / license: ____</a:t>
            </a:r>
          </a:p>
          <a:p>
            <a:pPr>
              <a:spcAft>
                <a:spcPts val="400"/>
              </a:spcAft>
            </a:pPr>
            <a:r>
              <a:rPr sz="1200" b="0" i="0">
                <a:solidFill>
                  <a:srgbClr val="202020"/>
                </a:solidFill>
                <a:latin typeface="Calibri"/>
              </a:rPr>
              <a:t>6. The Last Rose (c. 1956) — source / license: ____</a:t>
            </a:r>
          </a:p>
          <a:p>
            <a:pPr>
              <a:spcAft>
                <a:spcPts val="400"/>
              </a:spcAft>
            </a:pPr>
            <a:r>
              <a:rPr sz="1200" b="0" i="0">
                <a:solidFill>
                  <a:srgbClr val="202020"/>
                </a:solidFill>
                <a:latin typeface="Calibri"/>
              </a:rPr>
              <a:t>7. Glass and Egg (Labyrinths) (c. 1950s) — source / license: ____</a:t>
            </a:r>
          </a:p>
          <a:p>
            <a:pPr>
              <a:spcAft>
                <a:spcPts val="400"/>
              </a:spcAft>
            </a:pPr>
            <a:r>
              <a:rPr sz="1200" b="0" i="0">
                <a:solidFill>
                  <a:srgbClr val="202020"/>
                </a:solidFill>
                <a:latin typeface="Calibri"/>
              </a:rPr>
              <a:t>8. Still life with Bread and Glass (c. 1950s) — source / license: ____</a:t>
            </a:r>
          </a:p>
          <a:p>
            <a:pPr>
              <a:spcAft>
                <a:spcPts val="400"/>
              </a:spcAft>
            </a:pPr>
            <a:r>
              <a:rPr sz="1200" b="0" i="0">
                <a:solidFill>
                  <a:srgbClr val="202020"/>
                </a:solidFill>
                <a:latin typeface="Calibri"/>
              </a:rPr>
              <a:t>9. Window — view to the garden, summer (c. 1940s) — source / license: ____</a:t>
            </a:r>
          </a:p>
          <a:p>
            <a:pPr>
              <a:spcAft>
                <a:spcPts val="400"/>
              </a:spcAft>
            </a:pPr>
            <a:r>
              <a:rPr sz="1200" b="0" i="0">
                <a:solidFill>
                  <a:srgbClr val="202020"/>
                </a:solidFill>
                <a:latin typeface="Calibri"/>
              </a:rPr>
              <a:t>10. Window — frost, winter (c. 1940s–1950s) — source / license: ____</a:t>
            </a:r>
          </a:p>
          <a:p>
            <a:pPr>
              <a:spcAft>
                <a:spcPts val="400"/>
              </a:spcAft>
            </a:pPr>
            <a:r>
              <a:rPr sz="1200" b="0" i="0">
                <a:solidFill>
                  <a:srgbClr val="202020"/>
                </a:solidFill>
                <a:latin typeface="Calibri"/>
              </a:rPr>
              <a:t>11. A Walk in the Magic Garden I (c. 1954) — source / license: ____</a:t>
            </a:r>
          </a:p>
          <a:p>
            <a:pPr>
              <a:spcAft>
                <a:spcPts val="400"/>
              </a:spcAft>
            </a:pPr>
            <a:r>
              <a:rPr sz="1200" b="0" i="0">
                <a:solidFill>
                  <a:srgbClr val="202020"/>
                </a:solidFill>
                <a:latin typeface="Calibri"/>
              </a:rPr>
              <a:t>12. A Walk in the Magic Garden II (c. 1960s) — source / license: ____</a:t>
            </a:r>
          </a:p>
          <a:p>
            <a:pPr>
              <a:spcAft>
                <a:spcPts val="400"/>
              </a:spcAft>
            </a:pPr>
            <a:r>
              <a:rPr sz="1200" b="0" i="0">
                <a:solidFill>
                  <a:srgbClr val="202020"/>
                </a:solidFill>
                <a:latin typeface="Calibri"/>
              </a:rPr>
              <a:t>13. Prague Panorama — empty street/square (c. 1950s–1960s) — source / license: ____</a:t>
            </a:r>
          </a:p>
          <a:p>
            <a:pPr>
              <a:spcAft>
                <a:spcPts val="400"/>
              </a:spcAft>
            </a:pPr>
            <a:r>
              <a:rPr sz="1200" b="0" i="0">
                <a:solidFill>
                  <a:srgbClr val="202020"/>
                </a:solidFill>
                <a:latin typeface="Calibri"/>
              </a:rPr>
              <a:t>14. Veteran from the Invalidovna (c. 1922–1927) — source / license: ____</a:t>
            </a:r>
          </a:p>
          <a:p>
            <a:pPr>
              <a:spcAft>
                <a:spcPts val="400"/>
              </a:spcAft>
            </a:pPr>
            <a:r>
              <a:rPr sz="1200" b="0" i="0">
                <a:solidFill>
                  <a:srgbClr val="202020"/>
                </a:solidFill>
                <a:latin typeface="Calibri"/>
              </a:rPr>
              <a:t>15. A Chair in the Magic Garden / Remembrance (c. 1950s) — source / license: 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