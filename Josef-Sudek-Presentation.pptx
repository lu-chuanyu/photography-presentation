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everyone. Today I want to introduce a photographer who saw the whole world through a single window — and who made every one of his images with only one hand. His name is Josef Sudek, often called 'the Poet of Prague.' My talk is The World in One Hand, and my single question is: how did a physical limitation become an artistic style? (0:30)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man himself: Josef Sudek, born in 1896, who lived and worked almost his entire life in Prague. He made every one of his photographs with a single hand, using a heavy large-format camera. Keep his face in mind as we look at how he turned a wartime injury into one of the most poetic styles in photography.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Josef Sudek was born in Bohemia in 1896. In the First World War he lost his right arm. For most people that would end a photographic career. But Sudek leaned into the limitation: he gave up fast, handheld photography and committed to the large-format view camera, which forces you to slow down. He spent almost his whole life in Prague. (1:30)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argument of this talk. Sudek's limitation pushed him toward one way of working — slow, close, and patient — and that became his signature style. I've organized his photographs not by subject, but by four qualities that grow from that single limitation: Slow, Close, Repeated, and Solitary. (1:00)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SLOW. The view camera demanded long exposures, so Sudek learned to wait. A long exposure gathers soft, diffused light the eye barely notices — light becomes almost solid. This patience is the foundation of everything that follows.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slowness turns fog and damp air into something dreamlike. This is from his panoramic work — a wide, demanding format. The mist isn't a problem to fix; it is the subject.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near-darkness was only possible with a long exposure on a tripod. The empty, glowing street shows how Sudek used time itself as a tool — letting faint light slowly build into a quiet scene.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 misty forest, the stillness becomes visible. The soft grey light and motionless trees are the trace of a long, patient exposure. Slowness was never a weakness — it was how he found poetry in ordinary light.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CLOSE. Because movement was difficult, Sudek worked within arm's reach. His most famous motif: the window of his studio, covered in mist and droplets. A single pane of glass became an entire universe.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his table, a single fading rose. Seen this closely, an ordinary flower becomes a meditation on beauty and time — one of his most poetic still lifes.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his still lifes, simple objects hold tiny, glowing worlds of light. A glass, an egg — close up, their surfaces become mysterious. Closeness was his limitation, but also his way of seeing the extraordinary in the plain.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Bread and a glass on a dark table. Humble, everyday things — yet lit so gently they feel almost sacred. Intimacy as a method: the closer he looked, the more meaning he found.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REPEATED. Sudek returned to the same subjects for years. Here is the view from his studio window onto the garden in one season, full and green.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window in winter, the glass laced with frost. Same frame, completely different mood. Repetition let him discover endless variation inside a single point of view.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 gave the same devotion to his small, wild garden — his 'magic garden.' He photographed it again and again, finding life in its overgrown corners.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garden again, at a different hour and light. Repetition was not a lack of ideas — it was depth. By doing less, again and again, he saw more than photographers who do everything once.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Fourth, SOLITARY. Sudek's images are almost always empty of people. This empty square feels quiet, inward, a little melancholy — a whole city holding its breath.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earlier, documentary work shows a war veteran at the Invalidovna in Prague. It connects directly to Sudek's own war experience and his lost arm. Here, solitude is personal — where his whole sensibility begins.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 end with this: a single empty chair in the garden. No people, just pure silence and memory. For me, this is the emotional heart of his entire body of work.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how did a limitation become a style? He lost his arm, so he worked slowly. He worked slowly, so he stayed close. He stayed close, so he repeated the same intimate subjects for years. Out of that came a body of work defined by stillness and solitude. The constraint didn't shrink his world — it concentrated it. (1:30)</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Josef Sudek shows us that creativity isn't about having more — more mobility, more subjects, more equipment. Sometimes it's about going deeper into less. His single hand, his single window, gave us some of the most poetic photographs of the twentieth century. Thank you for listening — I'd love to hear your questions. (1:00)</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 the source and licensing for each image here. Use public-domain or properly licensed reproductions only, and verify each title and year against the holding institution before presenting.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TextBox 1"/>
          <p:cNvSpPr txBox="1"/>
          <p:nvPr/>
        </p:nvSpPr>
        <p:spPr>
          <a:xfrm>
            <a:off x="914400" y="2194560"/>
            <a:ext cx="10360152" cy="2468880"/>
          </a:xfrm>
          <a:prstGeom prst="rect">
            <a:avLst/>
          </a:prstGeom>
          <a:noFill/>
        </p:spPr>
        <p:txBody>
          <a:bodyPr wrap="square" anchor="ctr">
            <a:spAutoFit/>
          </a:bodyPr>
          <a:lstStyle/>
          <a:p>
            <a:pPr algn="ctr"/>
            <a:r>
              <a:rPr sz="4000" b="1" i="0">
                <a:solidFill>
                  <a:srgbClr val="202020"/>
                </a:solidFill>
                <a:latin typeface="Calibri"/>
              </a:rPr>
              <a:t>The World in One Hand</a:t>
            </a:r>
          </a:p>
          <a:p>
            <a:pPr algn="ctr"/>
            <a:r>
              <a:rPr sz="2400" b="0" i="1">
                <a:solidFill>
                  <a:srgbClr val="6E6A63"/>
                </a:solidFill>
                <a:latin typeface="Calibri"/>
              </a:rPr>
              <a:t>How Limitation Became Sudek's Style</a:t>
            </a:r>
          </a:p>
          <a:p>
            <a:pPr algn="ctr"/>
            <a:r>
              <a:rPr sz="1600" b="0" i="0">
                <a:solidFill>
                  <a:srgbClr val="8A6D3B"/>
                </a:solidFill>
                <a:latin typeface="Calibri"/>
              </a:rPr>
              <a:t>Josef Sudek — the Poet of Prague</a:t>
            </a:r>
          </a:p>
        </p:txBody>
      </p:sp>
      <p:sp>
        <p:nvSpPr>
          <p:cNvPr id="3" name="Rectangle 2"/>
          <p:cNvSpPr/>
          <p:nvPr/>
        </p:nvSpPr>
        <p:spPr>
          <a:xfrm>
            <a:off x="5184648" y="4846320"/>
            <a:ext cx="1828800" cy="38100"/>
          </a:xfrm>
          <a:prstGeom prst="rect">
            <a:avLst/>
          </a:prstGeom>
          <a:solidFill>
            <a:srgbClr val="8A6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ortrait.jpg"/>
          <p:cNvPicPr>
            <a:picLocks noChangeAspect="1"/>
          </p:cNvPicPr>
          <p:nvPr/>
        </p:nvPicPr>
        <p:blipFill>
          <a:blip r:embed="rId2"/>
          <a:stretch>
            <a:fillRect/>
          </a:stretch>
        </p:blipFill>
        <p:spPr>
          <a:xfrm>
            <a:off x="1013277" y="1005840"/>
            <a:ext cx="3825605" cy="4846320"/>
          </a:xfrm>
          <a:prstGeom prst="rect">
            <a:avLst/>
          </a:prstGeom>
          <a:effectLst/>
        </p:spPr>
      </p:pic>
      <p:sp>
        <p:nvSpPr>
          <p:cNvPr id="3" name="TextBox 2"/>
          <p:cNvSpPr txBox="1"/>
          <p:nvPr/>
        </p:nvSpPr>
        <p:spPr>
          <a:xfrm>
            <a:off x="5486400" y="1280160"/>
            <a:ext cx="5852160" cy="1280160"/>
          </a:xfrm>
          <a:prstGeom prst="rect">
            <a:avLst/>
          </a:prstGeom>
          <a:noFill/>
        </p:spPr>
        <p:txBody>
          <a:bodyPr wrap="square" anchor="t">
            <a:spAutoFit/>
          </a:bodyPr>
          <a:lstStyle/>
          <a:p>
            <a:r>
              <a:rPr sz="3600" b="1" i="0">
                <a:solidFill>
                  <a:srgbClr val="202020"/>
                </a:solidFill>
                <a:latin typeface="Calibri"/>
              </a:rPr>
              <a:t>Josef Sudek</a:t>
            </a:r>
          </a:p>
          <a:p>
            <a:r>
              <a:rPr sz="1800" b="0" i="1">
                <a:solidFill>
                  <a:srgbClr val="8A6D3B"/>
                </a:solidFill>
                <a:latin typeface="Calibri"/>
              </a:rPr>
              <a:t>1896–1976 · the Poet of Prague</a:t>
            </a:r>
          </a:p>
        </p:txBody>
      </p:sp>
      <p:sp>
        <p:nvSpPr>
          <p:cNvPr id="4" name="Rectangle 3"/>
          <p:cNvSpPr/>
          <p:nvPr/>
        </p:nvSpPr>
        <p:spPr>
          <a:xfrm>
            <a:off x="5532120" y="2788920"/>
            <a:ext cx="1828800" cy="38100"/>
          </a:xfrm>
          <a:prstGeom prst="rect">
            <a:avLst/>
          </a:prstGeom>
          <a:solidFill>
            <a:srgbClr val="8A6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0" y="3108960"/>
            <a:ext cx="5852160" cy="2926080"/>
          </a:xfrm>
          <a:prstGeom prst="rect">
            <a:avLst/>
          </a:prstGeom>
          <a:noFill/>
        </p:spPr>
        <p:txBody>
          <a:bodyPr wrap="square" anchor="t">
            <a:spAutoFit/>
          </a:bodyPr>
          <a:lstStyle/>
          <a:p>
            <a:pPr>
              <a:spcAft>
                <a:spcPts val="1000"/>
              </a:spcAft>
            </a:pPr>
            <a:r>
              <a:rPr sz="1800" b="0" i="0">
                <a:solidFill>
                  <a:srgbClr val="202020"/>
                </a:solidFill>
                <a:latin typeface="Calibri"/>
              </a:rPr>
              <a:t>Czech photographer who spent his life in Prague.</a:t>
            </a:r>
          </a:p>
          <a:p>
            <a:pPr>
              <a:spcAft>
                <a:spcPts val="1000"/>
              </a:spcAft>
            </a:pPr>
            <a:r>
              <a:rPr sz="1800" b="0" i="0">
                <a:solidFill>
                  <a:srgbClr val="202020"/>
                </a:solidFill>
                <a:latin typeface="Calibri"/>
              </a:rPr>
              <a:t>Lost his right arm in the First World War.</a:t>
            </a:r>
          </a:p>
          <a:p>
            <a:pPr>
              <a:spcAft>
                <a:spcPts val="1000"/>
              </a:spcAft>
            </a:pPr>
            <a:r>
              <a:rPr sz="1800" b="0" i="0">
                <a:solidFill>
                  <a:srgbClr val="202020"/>
                </a:solidFill>
                <a:latin typeface="Calibri"/>
              </a:rPr>
              <a:t>Worked one-handed with a large-format view camera.</a:t>
            </a:r>
          </a:p>
          <a:p>
            <a:pPr>
              <a:spcAft>
                <a:spcPts val="1000"/>
              </a:spcAft>
            </a:pPr>
            <a:r>
              <a:rPr sz="1800" b="0" i="0">
                <a:solidFill>
                  <a:srgbClr val="202020"/>
                </a:solidFill>
                <a:latin typeface="Calibri"/>
              </a:rPr>
              <a:t>Turned that limitation into a slow, quiet, poetic style.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TextBox 1"/>
          <p:cNvSpPr txBox="1"/>
          <p:nvPr/>
        </p:nvSpPr>
        <p:spPr>
          <a:xfrm>
            <a:off x="914400" y="822960"/>
            <a:ext cx="10360152" cy="1097280"/>
          </a:xfrm>
          <a:prstGeom prst="rect">
            <a:avLst/>
          </a:prstGeom>
          <a:noFill/>
        </p:spPr>
        <p:txBody>
          <a:bodyPr wrap="square" anchor="t">
            <a:spAutoFit/>
          </a:bodyPr>
          <a:lstStyle/>
          <a:p>
            <a:r>
              <a:rPr sz="3200" b="1" i="0">
                <a:solidFill>
                  <a:srgbClr val="202020"/>
                </a:solidFill>
                <a:latin typeface="Calibri"/>
              </a:rPr>
              <a:t>Who Was Josef Sudek?</a:t>
            </a:r>
          </a:p>
        </p:txBody>
      </p:sp>
      <p:sp>
        <p:nvSpPr>
          <p:cNvPr id="3" name="Rectangle 2"/>
          <p:cNvSpPr/>
          <p:nvPr/>
        </p:nvSpPr>
        <p:spPr>
          <a:xfrm>
            <a:off x="914400" y="1783080"/>
            <a:ext cx="2194560" cy="38100"/>
          </a:xfrm>
          <a:prstGeom prst="rect">
            <a:avLst/>
          </a:prstGeom>
          <a:solidFill>
            <a:srgbClr val="8A6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103120"/>
            <a:ext cx="10360152" cy="4023360"/>
          </a:xfrm>
          <a:prstGeom prst="rect">
            <a:avLst/>
          </a:prstGeom>
          <a:noFill/>
        </p:spPr>
        <p:txBody>
          <a:bodyPr wrap="square" anchor="t">
            <a:spAutoFit/>
          </a:bodyPr>
          <a:lstStyle/>
          <a:p>
            <a:pPr>
              <a:spcAft>
                <a:spcPts val="1000"/>
              </a:spcAft>
            </a:pPr>
            <a:r>
              <a:rPr sz="2000" b="0" i="0">
                <a:solidFill>
                  <a:srgbClr val="202020"/>
                </a:solidFill>
                <a:latin typeface="Calibri"/>
              </a:rPr>
              <a:t>Born in Bohemia, 1896.</a:t>
            </a:r>
          </a:p>
          <a:p>
            <a:pPr>
              <a:spcAft>
                <a:spcPts val="1000"/>
              </a:spcAft>
            </a:pPr>
            <a:r>
              <a:rPr sz="2000" b="0" i="0">
                <a:solidFill>
                  <a:srgbClr val="202020"/>
                </a:solidFill>
                <a:latin typeface="Calibri"/>
              </a:rPr>
              <a:t>Lost his right arm in the First World War.</a:t>
            </a:r>
          </a:p>
          <a:p>
            <a:pPr>
              <a:spcAft>
                <a:spcPts val="1000"/>
              </a:spcAft>
            </a:pPr>
            <a:r>
              <a:rPr sz="2000" b="0" i="0">
                <a:solidFill>
                  <a:srgbClr val="202020"/>
                </a:solidFill>
                <a:latin typeface="Calibri"/>
              </a:rPr>
              <a:t>Chose the large-format view camera — slow, deliberate work on a tripod.</a:t>
            </a:r>
          </a:p>
          <a:p>
            <a:pPr>
              <a:spcAft>
                <a:spcPts val="1000"/>
              </a:spcAft>
            </a:pPr>
            <a:r>
              <a:rPr sz="2000" b="0" i="0">
                <a:solidFill>
                  <a:srgbClr val="202020"/>
                </a:solidFill>
                <a:latin typeface="Calibri"/>
              </a:rPr>
              <a:t>Spent his life in Prague: 'the Poet of Prague.'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TextBox 1"/>
          <p:cNvSpPr txBox="1"/>
          <p:nvPr/>
        </p:nvSpPr>
        <p:spPr>
          <a:xfrm>
            <a:off x="914400" y="822960"/>
            <a:ext cx="10360152" cy="1097280"/>
          </a:xfrm>
          <a:prstGeom prst="rect">
            <a:avLst/>
          </a:prstGeom>
          <a:noFill/>
        </p:spPr>
        <p:txBody>
          <a:bodyPr wrap="square" anchor="t">
            <a:spAutoFit/>
          </a:bodyPr>
          <a:lstStyle/>
          <a:p>
            <a:r>
              <a:rPr sz="3200" b="1" i="0">
                <a:solidFill>
                  <a:srgbClr val="202020"/>
                </a:solidFill>
                <a:latin typeface="Calibri"/>
              </a:rPr>
              <a:t>The Main Idea</a:t>
            </a:r>
          </a:p>
        </p:txBody>
      </p:sp>
      <p:sp>
        <p:nvSpPr>
          <p:cNvPr id="3" name="Rectangle 2"/>
          <p:cNvSpPr/>
          <p:nvPr/>
        </p:nvSpPr>
        <p:spPr>
          <a:xfrm>
            <a:off x="914400" y="1783080"/>
            <a:ext cx="2194560" cy="38100"/>
          </a:xfrm>
          <a:prstGeom prst="rect">
            <a:avLst/>
          </a:prstGeom>
          <a:solidFill>
            <a:srgbClr val="8A6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103120"/>
            <a:ext cx="10360152" cy="4023360"/>
          </a:xfrm>
          <a:prstGeom prst="rect">
            <a:avLst/>
          </a:prstGeom>
          <a:noFill/>
        </p:spPr>
        <p:txBody>
          <a:bodyPr wrap="square" anchor="t">
            <a:spAutoFit/>
          </a:bodyPr>
          <a:lstStyle/>
          <a:p>
            <a:pPr>
              <a:spcAft>
                <a:spcPts val="1000"/>
              </a:spcAft>
            </a:pPr>
            <a:r>
              <a:rPr sz="2000" b="0" i="0">
                <a:solidFill>
                  <a:srgbClr val="202020"/>
                </a:solidFill>
                <a:latin typeface="Calibri"/>
              </a:rPr>
              <a:t>Sudek's limitation pushed him toward one way of working: slow, close, patient.</a:t>
            </a:r>
          </a:p>
          <a:p>
            <a:pPr>
              <a:spcAft>
                <a:spcPts val="1000"/>
              </a:spcAft>
            </a:pPr>
            <a:r>
              <a:rPr sz="2000" b="0" i="0">
                <a:solidFill>
                  <a:srgbClr val="202020"/>
                </a:solidFill>
                <a:latin typeface="Calibri"/>
              </a:rPr>
              <a:t>That became his signature style.</a:t>
            </a:r>
          </a:p>
          <a:p>
            <a:pPr>
              <a:spcAft>
                <a:spcPts val="1000"/>
              </a:spcAft>
            </a:pPr>
            <a:r>
              <a:rPr sz="2000" b="0" i="0">
                <a:solidFill>
                  <a:srgbClr val="202020"/>
                </a:solidFill>
                <a:latin typeface="Calibri"/>
              </a:rPr>
              <a:t>Four qualities organize this talk:</a:t>
            </a:r>
          </a:p>
          <a:p>
            <a:pPr>
              <a:spcAft>
                <a:spcPts val="1000"/>
              </a:spcAft>
            </a:pPr>
            <a:r>
              <a:rPr sz="2000" b="0" i="0">
                <a:solidFill>
                  <a:srgbClr val="202020"/>
                </a:solidFill>
                <a:latin typeface="Calibri"/>
              </a:rPr>
              <a:t>SLOW  ·  CLOSE  ·  REPEATED  ·  SOLITARY</a:t>
            </a:r>
          </a:p>
          <a:p>
            <a:pPr>
              <a:spcAft>
                <a:spcPts val="1000"/>
              </a:spcAft>
            </a:pPr>
            <a:r>
              <a:rPr sz="2000" b="0" i="0">
                <a:solidFill>
                  <a:srgbClr val="202020"/>
                </a:solidFill>
                <a:latin typeface="Calibri"/>
              </a:rPr>
              <a:t>Every photograph is evidence for one of them.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01.png"/>
          <p:cNvPicPr>
            <a:picLocks noChangeAspect="1"/>
          </p:cNvPicPr>
          <p:nvPr/>
        </p:nvPicPr>
        <p:blipFill>
          <a:blip r:embed="rId2"/>
          <a:stretch>
            <a:fillRect/>
          </a:stretch>
        </p:blipFill>
        <p:spPr>
          <a:xfrm>
            <a:off x="640080" y="1286416"/>
            <a:ext cx="7680959" cy="4285167"/>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SLOW</a:t>
            </a:r>
          </a:p>
          <a:p>
            <a:pPr>
              <a:spcBef>
                <a:spcPts val="1400"/>
              </a:spcBef>
            </a:pPr>
            <a:r>
              <a:rPr sz="1200" b="0" i="0">
                <a:solidFill>
                  <a:srgbClr val="6E6A63"/>
                </a:solidFill>
                <a:latin typeface="Calibri"/>
              </a:rPr>
              <a:t>Photo 1 of 15</a:t>
            </a:r>
          </a:p>
          <a:p>
            <a:pPr>
              <a:spcBef>
                <a:spcPts val="1000"/>
              </a:spcBef>
            </a:pPr>
            <a:r>
              <a:rPr sz="2200" b="1" i="0">
                <a:solidFill>
                  <a:srgbClr val="202020"/>
                </a:solidFill>
                <a:latin typeface="Calibri"/>
              </a:rPr>
              <a:t>Saint Vitus Cathedral, interior</a:t>
            </a:r>
          </a:p>
          <a:p>
            <a:r>
              <a:rPr sz="1400" b="0" i="1">
                <a:solidFill>
                  <a:srgbClr val="6E6A63"/>
                </a:solidFill>
                <a:latin typeface="Calibri"/>
              </a:rPr>
              <a:t>c. 1924–1928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02.jpeg"/>
          <p:cNvPicPr>
            <a:picLocks noChangeAspect="1"/>
          </p:cNvPicPr>
          <p:nvPr/>
        </p:nvPicPr>
        <p:blipFill>
          <a:blip r:embed="rId2"/>
          <a:stretch>
            <a:fillRect/>
          </a:stretch>
        </p:blipFill>
        <p:spPr>
          <a:xfrm>
            <a:off x="640080" y="2301586"/>
            <a:ext cx="7680960" cy="2254827"/>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SLOW</a:t>
            </a:r>
          </a:p>
          <a:p>
            <a:pPr>
              <a:spcBef>
                <a:spcPts val="1400"/>
              </a:spcBef>
            </a:pPr>
            <a:r>
              <a:rPr sz="1200" b="0" i="0">
                <a:solidFill>
                  <a:srgbClr val="6E6A63"/>
                </a:solidFill>
                <a:latin typeface="Calibri"/>
              </a:rPr>
              <a:t>Photo 2 of 15</a:t>
            </a:r>
          </a:p>
          <a:p>
            <a:pPr>
              <a:spcBef>
                <a:spcPts val="1000"/>
              </a:spcBef>
            </a:pPr>
            <a:r>
              <a:rPr sz="2200" b="1" i="0">
                <a:solidFill>
                  <a:srgbClr val="202020"/>
                </a:solidFill>
                <a:latin typeface="Calibri"/>
              </a:rPr>
              <a:t>Prague Panorama, misty city</a:t>
            </a:r>
          </a:p>
          <a:p>
            <a:r>
              <a:rPr sz="1400" b="0" i="1">
                <a:solidFill>
                  <a:srgbClr val="6E6A63"/>
                </a:solidFill>
                <a:latin typeface="Calibri"/>
              </a:rPr>
              <a:t>c. 1950s–1960s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03.jpeg"/>
          <p:cNvPicPr>
            <a:picLocks noChangeAspect="1"/>
          </p:cNvPicPr>
          <p:nvPr/>
        </p:nvPicPr>
        <p:blipFill>
          <a:blip r:embed="rId2"/>
          <a:stretch>
            <a:fillRect/>
          </a:stretch>
        </p:blipFill>
        <p:spPr>
          <a:xfrm>
            <a:off x="2361134" y="640080"/>
            <a:ext cx="4238852" cy="5577840"/>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SLOW</a:t>
            </a:r>
          </a:p>
          <a:p>
            <a:pPr>
              <a:spcBef>
                <a:spcPts val="1400"/>
              </a:spcBef>
            </a:pPr>
            <a:r>
              <a:rPr sz="1200" b="0" i="0">
                <a:solidFill>
                  <a:srgbClr val="6E6A63"/>
                </a:solidFill>
                <a:latin typeface="Calibri"/>
              </a:rPr>
              <a:t>Photo 3 of 15</a:t>
            </a:r>
          </a:p>
          <a:p>
            <a:pPr>
              <a:spcBef>
                <a:spcPts val="1000"/>
              </a:spcBef>
            </a:pPr>
            <a:r>
              <a:rPr sz="2200" b="1" i="0">
                <a:solidFill>
                  <a:srgbClr val="202020"/>
                </a:solidFill>
                <a:latin typeface="Calibri"/>
              </a:rPr>
              <a:t>Prague at Night</a:t>
            </a:r>
          </a:p>
          <a:p>
            <a:r>
              <a:rPr sz="1400" b="0" i="1">
                <a:solidFill>
                  <a:srgbClr val="6E6A63"/>
                </a:solidFill>
                <a:latin typeface="Calibri"/>
              </a:rPr>
              <a:t>c. 1950s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04.jpeg"/>
          <p:cNvPicPr>
            <a:picLocks noChangeAspect="1"/>
          </p:cNvPicPr>
          <p:nvPr/>
        </p:nvPicPr>
        <p:blipFill>
          <a:blip r:embed="rId2"/>
          <a:stretch>
            <a:fillRect/>
          </a:stretch>
        </p:blipFill>
        <p:spPr>
          <a:xfrm>
            <a:off x="2371439" y="640080"/>
            <a:ext cx="4218241" cy="5577840"/>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SLOW</a:t>
            </a:r>
          </a:p>
          <a:p>
            <a:pPr>
              <a:spcBef>
                <a:spcPts val="1400"/>
              </a:spcBef>
            </a:pPr>
            <a:r>
              <a:rPr sz="1200" b="0" i="0">
                <a:solidFill>
                  <a:srgbClr val="6E6A63"/>
                </a:solidFill>
                <a:latin typeface="Calibri"/>
              </a:rPr>
              <a:t>Photo 4 of 15</a:t>
            </a:r>
          </a:p>
          <a:p>
            <a:pPr>
              <a:spcBef>
                <a:spcPts val="1000"/>
              </a:spcBef>
            </a:pPr>
            <a:r>
              <a:rPr sz="2200" b="1" i="0">
                <a:solidFill>
                  <a:srgbClr val="202020"/>
                </a:solidFill>
                <a:latin typeface="Calibri"/>
              </a:rPr>
              <a:t>Mionší Forest, mist in the woods</a:t>
            </a:r>
          </a:p>
          <a:p>
            <a:r>
              <a:rPr sz="1400" b="0" i="1">
                <a:solidFill>
                  <a:srgbClr val="6E6A63"/>
                </a:solidFill>
                <a:latin typeface="Calibri"/>
              </a:rPr>
              <a:t>c. 1950s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05.jpeg"/>
          <p:cNvPicPr>
            <a:picLocks noChangeAspect="1"/>
          </p:cNvPicPr>
          <p:nvPr/>
        </p:nvPicPr>
        <p:blipFill>
          <a:blip r:embed="rId2"/>
          <a:stretch>
            <a:fillRect/>
          </a:stretch>
        </p:blipFill>
        <p:spPr>
          <a:xfrm>
            <a:off x="2495839" y="640080"/>
            <a:ext cx="3969442" cy="5577840"/>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CLOSE</a:t>
            </a:r>
          </a:p>
          <a:p>
            <a:pPr>
              <a:spcBef>
                <a:spcPts val="1400"/>
              </a:spcBef>
            </a:pPr>
            <a:r>
              <a:rPr sz="1200" b="0" i="0">
                <a:solidFill>
                  <a:srgbClr val="6E6A63"/>
                </a:solidFill>
                <a:latin typeface="Calibri"/>
              </a:rPr>
              <a:t>Photo 5 of 15</a:t>
            </a:r>
          </a:p>
          <a:p>
            <a:pPr>
              <a:spcBef>
                <a:spcPts val="1000"/>
              </a:spcBef>
            </a:pPr>
            <a:r>
              <a:rPr sz="2200" b="1" i="0">
                <a:solidFill>
                  <a:srgbClr val="202020"/>
                </a:solidFill>
                <a:latin typeface="Calibri"/>
              </a:rPr>
              <a:t>The Window of My Studio</a:t>
            </a:r>
          </a:p>
          <a:p>
            <a:r>
              <a:rPr sz="1400" b="0" i="1">
                <a:solidFill>
                  <a:srgbClr val="6E6A63"/>
                </a:solidFill>
                <a:latin typeface="Calibri"/>
              </a:rPr>
              <a:t>c. 1940–1948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06.jpeg"/>
          <p:cNvPicPr>
            <a:picLocks noChangeAspect="1"/>
          </p:cNvPicPr>
          <p:nvPr/>
        </p:nvPicPr>
        <p:blipFill>
          <a:blip r:embed="rId2"/>
          <a:stretch>
            <a:fillRect/>
          </a:stretch>
        </p:blipFill>
        <p:spPr>
          <a:xfrm>
            <a:off x="2212819" y="640080"/>
            <a:ext cx="4535481" cy="5577840"/>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CLOSE</a:t>
            </a:r>
          </a:p>
          <a:p>
            <a:pPr>
              <a:spcBef>
                <a:spcPts val="1400"/>
              </a:spcBef>
            </a:pPr>
            <a:r>
              <a:rPr sz="1200" b="0" i="0">
                <a:solidFill>
                  <a:srgbClr val="6E6A63"/>
                </a:solidFill>
                <a:latin typeface="Calibri"/>
              </a:rPr>
              <a:t>Photo 6 of 15</a:t>
            </a:r>
          </a:p>
          <a:p>
            <a:pPr>
              <a:spcBef>
                <a:spcPts val="1000"/>
              </a:spcBef>
            </a:pPr>
            <a:r>
              <a:rPr sz="2200" b="1" i="0">
                <a:solidFill>
                  <a:srgbClr val="202020"/>
                </a:solidFill>
                <a:latin typeface="Calibri"/>
              </a:rPr>
              <a:t>The Last Rose</a:t>
            </a:r>
          </a:p>
          <a:p>
            <a:r>
              <a:rPr sz="1400" b="0" i="1">
                <a:solidFill>
                  <a:srgbClr val="6E6A63"/>
                </a:solidFill>
                <a:latin typeface="Calibri"/>
              </a:rPr>
              <a:t>c. 1956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07.jpeg"/>
          <p:cNvPicPr>
            <a:picLocks noChangeAspect="1"/>
          </p:cNvPicPr>
          <p:nvPr/>
        </p:nvPicPr>
        <p:blipFill>
          <a:blip r:embed="rId2"/>
          <a:stretch>
            <a:fillRect/>
          </a:stretch>
        </p:blipFill>
        <p:spPr>
          <a:xfrm>
            <a:off x="2279849" y="640080"/>
            <a:ext cx="4401422" cy="5577840"/>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CLOSE</a:t>
            </a:r>
          </a:p>
          <a:p>
            <a:pPr>
              <a:spcBef>
                <a:spcPts val="1400"/>
              </a:spcBef>
            </a:pPr>
            <a:r>
              <a:rPr sz="1200" b="0" i="0">
                <a:solidFill>
                  <a:srgbClr val="6E6A63"/>
                </a:solidFill>
                <a:latin typeface="Calibri"/>
              </a:rPr>
              <a:t>Photo 7 of 15</a:t>
            </a:r>
          </a:p>
          <a:p>
            <a:pPr>
              <a:spcBef>
                <a:spcPts val="1000"/>
              </a:spcBef>
            </a:pPr>
            <a:r>
              <a:rPr sz="2200" b="1" i="0">
                <a:solidFill>
                  <a:srgbClr val="202020"/>
                </a:solidFill>
                <a:latin typeface="Calibri"/>
              </a:rPr>
              <a:t>Glass and Egg (Labyrinths)</a:t>
            </a:r>
          </a:p>
          <a:p>
            <a:r>
              <a:rPr sz="1400" b="0" i="1">
                <a:solidFill>
                  <a:srgbClr val="6E6A63"/>
                </a:solidFill>
                <a:latin typeface="Calibri"/>
              </a:rPr>
              <a:t>c. 1950s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08.jpeg"/>
          <p:cNvPicPr>
            <a:picLocks noChangeAspect="1"/>
          </p:cNvPicPr>
          <p:nvPr/>
        </p:nvPicPr>
        <p:blipFill>
          <a:blip r:embed="rId2"/>
          <a:stretch>
            <a:fillRect/>
          </a:stretch>
        </p:blipFill>
        <p:spPr>
          <a:xfrm>
            <a:off x="2417667" y="640080"/>
            <a:ext cx="4125786" cy="5577840"/>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CLOSE</a:t>
            </a:r>
          </a:p>
          <a:p>
            <a:pPr>
              <a:spcBef>
                <a:spcPts val="1400"/>
              </a:spcBef>
            </a:pPr>
            <a:r>
              <a:rPr sz="1200" b="0" i="0">
                <a:solidFill>
                  <a:srgbClr val="6E6A63"/>
                </a:solidFill>
                <a:latin typeface="Calibri"/>
              </a:rPr>
              <a:t>Photo 8 of 15</a:t>
            </a:r>
          </a:p>
          <a:p>
            <a:pPr>
              <a:spcBef>
                <a:spcPts val="1000"/>
              </a:spcBef>
            </a:pPr>
            <a:r>
              <a:rPr sz="2200" b="1" i="0">
                <a:solidFill>
                  <a:srgbClr val="202020"/>
                </a:solidFill>
                <a:latin typeface="Calibri"/>
              </a:rPr>
              <a:t>Still life with Bread and Glass</a:t>
            </a:r>
          </a:p>
          <a:p>
            <a:r>
              <a:rPr sz="1400" b="0" i="1">
                <a:solidFill>
                  <a:srgbClr val="6E6A63"/>
                </a:solidFill>
                <a:latin typeface="Calibri"/>
              </a:rPr>
              <a:t>c. 1950s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09.jpeg"/>
          <p:cNvPicPr>
            <a:picLocks noChangeAspect="1"/>
          </p:cNvPicPr>
          <p:nvPr/>
        </p:nvPicPr>
        <p:blipFill>
          <a:blip r:embed="rId2"/>
          <a:stretch>
            <a:fillRect/>
          </a:stretch>
        </p:blipFill>
        <p:spPr>
          <a:xfrm>
            <a:off x="2435352" y="640080"/>
            <a:ext cx="4090416" cy="5577840"/>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REPEATED</a:t>
            </a:r>
          </a:p>
          <a:p>
            <a:pPr>
              <a:spcBef>
                <a:spcPts val="1400"/>
              </a:spcBef>
            </a:pPr>
            <a:r>
              <a:rPr sz="1200" b="0" i="0">
                <a:solidFill>
                  <a:srgbClr val="6E6A63"/>
                </a:solidFill>
                <a:latin typeface="Calibri"/>
              </a:rPr>
              <a:t>Photo 9 of 15</a:t>
            </a:r>
          </a:p>
          <a:p>
            <a:pPr>
              <a:spcBef>
                <a:spcPts val="1000"/>
              </a:spcBef>
            </a:pPr>
            <a:r>
              <a:rPr sz="2200" b="1" i="0">
                <a:solidFill>
                  <a:srgbClr val="202020"/>
                </a:solidFill>
                <a:latin typeface="Calibri"/>
              </a:rPr>
              <a:t>Window — view to the garden, summer</a:t>
            </a:r>
          </a:p>
          <a:p>
            <a:r>
              <a:rPr sz="1400" b="0" i="1">
                <a:solidFill>
                  <a:srgbClr val="6E6A63"/>
                </a:solidFill>
                <a:latin typeface="Calibri"/>
              </a:rPr>
              <a:t>c. 1940s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10.jpeg"/>
          <p:cNvPicPr>
            <a:picLocks noChangeAspect="1"/>
          </p:cNvPicPr>
          <p:nvPr/>
        </p:nvPicPr>
        <p:blipFill>
          <a:blip r:embed="rId2"/>
          <a:stretch>
            <a:fillRect/>
          </a:stretch>
        </p:blipFill>
        <p:spPr>
          <a:xfrm>
            <a:off x="2812095" y="640080"/>
            <a:ext cx="3336930" cy="5577840"/>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REPEATED</a:t>
            </a:r>
          </a:p>
          <a:p>
            <a:pPr>
              <a:spcBef>
                <a:spcPts val="1400"/>
              </a:spcBef>
            </a:pPr>
            <a:r>
              <a:rPr sz="1200" b="0" i="0">
                <a:solidFill>
                  <a:srgbClr val="6E6A63"/>
                </a:solidFill>
                <a:latin typeface="Calibri"/>
              </a:rPr>
              <a:t>Photo 10 of 15</a:t>
            </a:r>
          </a:p>
          <a:p>
            <a:pPr>
              <a:spcBef>
                <a:spcPts val="1000"/>
              </a:spcBef>
            </a:pPr>
            <a:r>
              <a:rPr sz="2200" b="1" i="0">
                <a:solidFill>
                  <a:srgbClr val="202020"/>
                </a:solidFill>
                <a:latin typeface="Calibri"/>
              </a:rPr>
              <a:t>Window — frost, winter</a:t>
            </a:r>
          </a:p>
          <a:p>
            <a:r>
              <a:rPr sz="1400" b="0" i="1">
                <a:solidFill>
                  <a:srgbClr val="6E6A63"/>
                </a:solidFill>
                <a:latin typeface="Calibri"/>
              </a:rPr>
              <a:t>c. 1940s–1950s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11.jpeg"/>
          <p:cNvPicPr>
            <a:picLocks noChangeAspect="1"/>
          </p:cNvPicPr>
          <p:nvPr/>
        </p:nvPicPr>
        <p:blipFill>
          <a:blip r:embed="rId2"/>
          <a:stretch>
            <a:fillRect/>
          </a:stretch>
        </p:blipFill>
        <p:spPr>
          <a:xfrm>
            <a:off x="703242" y="640080"/>
            <a:ext cx="7554636" cy="5577840"/>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REPEATED</a:t>
            </a:r>
          </a:p>
          <a:p>
            <a:pPr>
              <a:spcBef>
                <a:spcPts val="1400"/>
              </a:spcBef>
            </a:pPr>
            <a:r>
              <a:rPr sz="1200" b="0" i="0">
                <a:solidFill>
                  <a:srgbClr val="6E6A63"/>
                </a:solidFill>
                <a:latin typeface="Calibri"/>
              </a:rPr>
              <a:t>Photo 11 of 15</a:t>
            </a:r>
          </a:p>
          <a:p>
            <a:pPr>
              <a:spcBef>
                <a:spcPts val="1000"/>
              </a:spcBef>
            </a:pPr>
            <a:r>
              <a:rPr sz="2200" b="1" i="0">
                <a:solidFill>
                  <a:srgbClr val="202020"/>
                </a:solidFill>
                <a:latin typeface="Calibri"/>
              </a:rPr>
              <a:t>A Walk in the Magic Garden I</a:t>
            </a:r>
          </a:p>
          <a:p>
            <a:r>
              <a:rPr sz="1400" b="0" i="1">
                <a:solidFill>
                  <a:srgbClr val="6E6A63"/>
                </a:solidFill>
                <a:latin typeface="Calibri"/>
              </a:rPr>
              <a:t>c. 1954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12.jpeg"/>
          <p:cNvPicPr>
            <a:picLocks noChangeAspect="1"/>
          </p:cNvPicPr>
          <p:nvPr/>
        </p:nvPicPr>
        <p:blipFill>
          <a:blip r:embed="rId2"/>
          <a:stretch>
            <a:fillRect/>
          </a:stretch>
        </p:blipFill>
        <p:spPr>
          <a:xfrm>
            <a:off x="791244" y="640080"/>
            <a:ext cx="7378632" cy="5577840"/>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REPEATED</a:t>
            </a:r>
          </a:p>
          <a:p>
            <a:pPr>
              <a:spcBef>
                <a:spcPts val="1400"/>
              </a:spcBef>
            </a:pPr>
            <a:r>
              <a:rPr sz="1200" b="0" i="0">
                <a:solidFill>
                  <a:srgbClr val="6E6A63"/>
                </a:solidFill>
                <a:latin typeface="Calibri"/>
              </a:rPr>
              <a:t>Photo 12 of 15</a:t>
            </a:r>
          </a:p>
          <a:p>
            <a:pPr>
              <a:spcBef>
                <a:spcPts val="1000"/>
              </a:spcBef>
            </a:pPr>
            <a:r>
              <a:rPr sz="2200" b="1" i="0">
                <a:solidFill>
                  <a:srgbClr val="202020"/>
                </a:solidFill>
                <a:latin typeface="Calibri"/>
              </a:rPr>
              <a:t>A Walk in the Magic Garden II</a:t>
            </a:r>
          </a:p>
          <a:p>
            <a:r>
              <a:rPr sz="1400" b="0" i="1">
                <a:solidFill>
                  <a:srgbClr val="6E6A63"/>
                </a:solidFill>
                <a:latin typeface="Calibri"/>
              </a:rPr>
              <a:t>c. 1960s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13.jpeg"/>
          <p:cNvPicPr>
            <a:picLocks noChangeAspect="1"/>
          </p:cNvPicPr>
          <p:nvPr/>
        </p:nvPicPr>
        <p:blipFill>
          <a:blip r:embed="rId2"/>
          <a:stretch>
            <a:fillRect/>
          </a:stretch>
        </p:blipFill>
        <p:spPr>
          <a:xfrm>
            <a:off x="1726545" y="640080"/>
            <a:ext cx="5508029" cy="5577840"/>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SOLITARY</a:t>
            </a:r>
          </a:p>
          <a:p>
            <a:pPr>
              <a:spcBef>
                <a:spcPts val="1400"/>
              </a:spcBef>
            </a:pPr>
            <a:r>
              <a:rPr sz="1200" b="0" i="0">
                <a:solidFill>
                  <a:srgbClr val="6E6A63"/>
                </a:solidFill>
                <a:latin typeface="Calibri"/>
              </a:rPr>
              <a:t>Photo 13 of 15</a:t>
            </a:r>
          </a:p>
          <a:p>
            <a:pPr>
              <a:spcBef>
                <a:spcPts val="1000"/>
              </a:spcBef>
            </a:pPr>
            <a:r>
              <a:rPr sz="2200" b="1" i="0">
                <a:solidFill>
                  <a:srgbClr val="202020"/>
                </a:solidFill>
                <a:latin typeface="Calibri"/>
              </a:rPr>
              <a:t>Prague Panorama — empty street/square</a:t>
            </a:r>
          </a:p>
          <a:p>
            <a:r>
              <a:rPr sz="1400" b="0" i="1">
                <a:solidFill>
                  <a:srgbClr val="6E6A63"/>
                </a:solidFill>
                <a:latin typeface="Calibri"/>
              </a:rPr>
              <a:t>c. 1950s–1960s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14.jpeg"/>
          <p:cNvPicPr>
            <a:picLocks noChangeAspect="1"/>
          </p:cNvPicPr>
          <p:nvPr/>
        </p:nvPicPr>
        <p:blipFill>
          <a:blip r:embed="rId2"/>
          <a:stretch>
            <a:fillRect/>
          </a:stretch>
        </p:blipFill>
        <p:spPr>
          <a:xfrm>
            <a:off x="2183187" y="640080"/>
            <a:ext cx="4594745" cy="5577840"/>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SOLITARY</a:t>
            </a:r>
          </a:p>
          <a:p>
            <a:pPr>
              <a:spcBef>
                <a:spcPts val="1400"/>
              </a:spcBef>
            </a:pPr>
            <a:r>
              <a:rPr sz="1200" b="0" i="0">
                <a:solidFill>
                  <a:srgbClr val="6E6A63"/>
                </a:solidFill>
                <a:latin typeface="Calibri"/>
              </a:rPr>
              <a:t>Photo 14 of 15</a:t>
            </a:r>
          </a:p>
          <a:p>
            <a:pPr>
              <a:spcBef>
                <a:spcPts val="1000"/>
              </a:spcBef>
            </a:pPr>
            <a:r>
              <a:rPr sz="2200" b="1" i="0">
                <a:solidFill>
                  <a:srgbClr val="202020"/>
                </a:solidFill>
                <a:latin typeface="Calibri"/>
              </a:rPr>
              <a:t>Veteran from the Invalidovna</a:t>
            </a:r>
          </a:p>
          <a:p>
            <a:r>
              <a:rPr sz="1400" b="0" i="1">
                <a:solidFill>
                  <a:srgbClr val="6E6A63"/>
                </a:solidFill>
                <a:latin typeface="Calibri"/>
              </a:rPr>
              <a:t>c. 1922–1927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pic>
        <p:nvPicPr>
          <p:cNvPr id="2" name="Picture 1" descr="photo15.jpeg"/>
          <p:cNvPicPr>
            <a:picLocks noChangeAspect="1"/>
          </p:cNvPicPr>
          <p:nvPr/>
        </p:nvPicPr>
        <p:blipFill>
          <a:blip r:embed="rId2"/>
          <a:stretch>
            <a:fillRect/>
          </a:stretch>
        </p:blipFill>
        <p:spPr>
          <a:xfrm>
            <a:off x="681859" y="640080"/>
            <a:ext cx="7597402" cy="5577840"/>
          </a:xfrm>
          <a:prstGeom prst="rect">
            <a:avLst/>
          </a:prstGeom>
          <a:effectLst/>
        </p:spPr>
      </p:pic>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SOLITARY</a:t>
            </a:r>
          </a:p>
          <a:p>
            <a:pPr>
              <a:spcBef>
                <a:spcPts val="1400"/>
              </a:spcBef>
            </a:pPr>
            <a:r>
              <a:rPr sz="1200" b="0" i="0">
                <a:solidFill>
                  <a:srgbClr val="6E6A63"/>
                </a:solidFill>
                <a:latin typeface="Calibri"/>
              </a:rPr>
              <a:t>Photo 15 of 15</a:t>
            </a:r>
          </a:p>
          <a:p>
            <a:pPr>
              <a:spcBef>
                <a:spcPts val="1000"/>
              </a:spcBef>
            </a:pPr>
            <a:r>
              <a:rPr sz="2200" b="1" i="0">
                <a:solidFill>
                  <a:srgbClr val="202020"/>
                </a:solidFill>
                <a:latin typeface="Calibri"/>
              </a:rPr>
              <a:t>A Chair in the Magic Garden / Remembrance</a:t>
            </a:r>
          </a:p>
          <a:p>
            <a:r>
              <a:rPr sz="1400" b="0" i="1">
                <a:solidFill>
                  <a:srgbClr val="6E6A63"/>
                </a:solidFill>
                <a:latin typeface="Calibri"/>
              </a:rPr>
              <a:t>c. 1950s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TextBox 1"/>
          <p:cNvSpPr txBox="1"/>
          <p:nvPr/>
        </p:nvSpPr>
        <p:spPr>
          <a:xfrm>
            <a:off x="914400" y="822960"/>
            <a:ext cx="10360152" cy="1097280"/>
          </a:xfrm>
          <a:prstGeom prst="rect">
            <a:avLst/>
          </a:prstGeom>
          <a:noFill/>
        </p:spPr>
        <p:txBody>
          <a:bodyPr wrap="square" anchor="t">
            <a:spAutoFit/>
          </a:bodyPr>
          <a:lstStyle/>
          <a:p>
            <a:r>
              <a:rPr sz="3200" b="1" i="0">
                <a:solidFill>
                  <a:srgbClr val="202020"/>
                </a:solidFill>
                <a:latin typeface="Calibri"/>
              </a:rPr>
              <a:t>Bringing It Together</a:t>
            </a:r>
          </a:p>
        </p:txBody>
      </p:sp>
      <p:sp>
        <p:nvSpPr>
          <p:cNvPr id="3" name="Rectangle 2"/>
          <p:cNvSpPr/>
          <p:nvPr/>
        </p:nvSpPr>
        <p:spPr>
          <a:xfrm>
            <a:off x="914400" y="1783080"/>
            <a:ext cx="2194560" cy="38100"/>
          </a:xfrm>
          <a:prstGeom prst="rect">
            <a:avLst/>
          </a:prstGeom>
          <a:solidFill>
            <a:srgbClr val="8A6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103120"/>
            <a:ext cx="10360152" cy="4023360"/>
          </a:xfrm>
          <a:prstGeom prst="rect">
            <a:avLst/>
          </a:prstGeom>
          <a:noFill/>
        </p:spPr>
        <p:txBody>
          <a:bodyPr wrap="square" anchor="t">
            <a:spAutoFit/>
          </a:bodyPr>
          <a:lstStyle/>
          <a:p>
            <a:pPr>
              <a:spcAft>
                <a:spcPts val="1000"/>
              </a:spcAft>
            </a:pPr>
            <a:r>
              <a:rPr sz="2000" b="0" i="0">
                <a:solidFill>
                  <a:srgbClr val="202020"/>
                </a:solidFill>
                <a:latin typeface="Calibri"/>
              </a:rPr>
              <a:t>He lost his arm, so he worked slowly.</a:t>
            </a:r>
          </a:p>
          <a:p>
            <a:pPr>
              <a:spcAft>
                <a:spcPts val="1000"/>
              </a:spcAft>
            </a:pPr>
            <a:r>
              <a:rPr sz="2000" b="0" i="0">
                <a:solidFill>
                  <a:srgbClr val="202020"/>
                </a:solidFill>
                <a:latin typeface="Calibri"/>
              </a:rPr>
              <a:t>He worked slowly, so he stayed close.</a:t>
            </a:r>
          </a:p>
          <a:p>
            <a:pPr>
              <a:spcAft>
                <a:spcPts val="1000"/>
              </a:spcAft>
            </a:pPr>
            <a:r>
              <a:rPr sz="2000" b="0" i="0">
                <a:solidFill>
                  <a:srgbClr val="202020"/>
                </a:solidFill>
                <a:latin typeface="Calibri"/>
              </a:rPr>
              <a:t>He stayed close, so he repeated intimate subjects for years.</a:t>
            </a:r>
          </a:p>
          <a:p>
            <a:pPr>
              <a:spcAft>
                <a:spcPts val="1000"/>
              </a:spcAft>
            </a:pPr>
            <a:r>
              <a:rPr sz="2000" b="0" i="0">
                <a:solidFill>
                  <a:srgbClr val="202020"/>
                </a:solidFill>
                <a:latin typeface="Calibri"/>
              </a:rPr>
              <a:t>The result: stillness and solitude.</a:t>
            </a:r>
          </a:p>
          <a:p>
            <a:pPr>
              <a:spcAft>
                <a:spcPts val="1000"/>
              </a:spcAft>
            </a:pPr>
            <a:r>
              <a:rPr sz="2000" b="0" i="0">
                <a:solidFill>
                  <a:srgbClr val="202020"/>
                </a:solidFill>
                <a:latin typeface="Calibri"/>
              </a:rPr>
              <a:t>The constraint didn't shrink his world — it concentrated 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TextBox 1"/>
          <p:cNvSpPr txBox="1"/>
          <p:nvPr/>
        </p:nvSpPr>
        <p:spPr>
          <a:xfrm>
            <a:off x="914400" y="822960"/>
            <a:ext cx="10360152" cy="1097280"/>
          </a:xfrm>
          <a:prstGeom prst="rect">
            <a:avLst/>
          </a:prstGeom>
          <a:noFill/>
        </p:spPr>
        <p:txBody>
          <a:bodyPr wrap="square" anchor="t">
            <a:spAutoFit/>
          </a:bodyPr>
          <a:lstStyle/>
          <a:p>
            <a:r>
              <a:rPr sz="3200" b="1" i="0">
                <a:solidFill>
                  <a:srgbClr val="202020"/>
                </a:solidFill>
                <a:latin typeface="Calibri"/>
              </a:rPr>
              <a:t>Conclusion &amp; Q&amp;A</a:t>
            </a:r>
          </a:p>
        </p:txBody>
      </p:sp>
      <p:sp>
        <p:nvSpPr>
          <p:cNvPr id="3" name="Rectangle 2"/>
          <p:cNvSpPr/>
          <p:nvPr/>
        </p:nvSpPr>
        <p:spPr>
          <a:xfrm>
            <a:off x="914400" y="1783080"/>
            <a:ext cx="2194560" cy="38100"/>
          </a:xfrm>
          <a:prstGeom prst="rect">
            <a:avLst/>
          </a:prstGeom>
          <a:solidFill>
            <a:srgbClr val="8A6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103120"/>
            <a:ext cx="10360152" cy="4023360"/>
          </a:xfrm>
          <a:prstGeom prst="rect">
            <a:avLst/>
          </a:prstGeom>
          <a:noFill/>
        </p:spPr>
        <p:txBody>
          <a:bodyPr wrap="square" anchor="t">
            <a:spAutoFit/>
          </a:bodyPr>
          <a:lstStyle/>
          <a:p>
            <a:pPr>
              <a:spcAft>
                <a:spcPts val="1000"/>
              </a:spcAft>
            </a:pPr>
            <a:r>
              <a:rPr sz="2000" b="0" i="0">
                <a:solidFill>
                  <a:srgbClr val="202020"/>
                </a:solidFill>
                <a:latin typeface="Calibri"/>
              </a:rPr>
              <a:t>Creativity isn't always about having more.</a:t>
            </a:r>
          </a:p>
          <a:p>
            <a:pPr>
              <a:spcAft>
                <a:spcPts val="1000"/>
              </a:spcAft>
            </a:pPr>
            <a:r>
              <a:rPr sz="2000" b="0" i="0">
                <a:solidFill>
                  <a:srgbClr val="202020"/>
                </a:solidFill>
                <a:latin typeface="Calibri"/>
              </a:rPr>
              <a:t>Sometimes it's about going deeper into less.</a:t>
            </a:r>
          </a:p>
          <a:p>
            <a:pPr>
              <a:spcAft>
                <a:spcPts val="1000"/>
              </a:spcAft>
            </a:pPr>
            <a:r>
              <a:rPr sz="2000" b="0" i="0">
                <a:solidFill>
                  <a:srgbClr val="202020"/>
                </a:solidFill>
                <a:latin typeface="Calibri"/>
              </a:rPr>
              <a:t>One hand, one window — some of the most poetic photographs of the 20th century.</a:t>
            </a:r>
          </a:p>
          <a:p>
            <a:pPr>
              <a:spcAft>
                <a:spcPts val="1000"/>
              </a:spcAft>
            </a:pPr>
            <a:r>
              <a:rPr sz="2000" b="0" i="0">
                <a:solidFill>
                  <a:srgbClr val="202020"/>
                </a:solidFill>
                <a:latin typeface="Calibri"/>
              </a:rPr>
              <a:t>Thank you. Questions?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TextBox 1"/>
          <p:cNvSpPr txBox="1"/>
          <p:nvPr/>
        </p:nvSpPr>
        <p:spPr>
          <a:xfrm>
            <a:off x="914400" y="822960"/>
            <a:ext cx="10360152" cy="914400"/>
          </a:xfrm>
          <a:prstGeom prst="rect">
            <a:avLst/>
          </a:prstGeom>
          <a:noFill/>
        </p:spPr>
        <p:txBody>
          <a:bodyPr wrap="square" anchor="t">
            <a:spAutoFit/>
          </a:bodyPr>
          <a:lstStyle/>
          <a:p>
            <a:r>
              <a:rPr sz="3000" b="1" i="0">
                <a:solidFill>
                  <a:srgbClr val="202020"/>
                </a:solidFill>
                <a:latin typeface="Calibri"/>
              </a:rPr>
              <a:t>Image Credits</a:t>
            </a:r>
          </a:p>
        </p:txBody>
      </p:sp>
      <p:sp>
        <p:nvSpPr>
          <p:cNvPr id="3" name="Rectangle 2"/>
          <p:cNvSpPr/>
          <p:nvPr/>
        </p:nvSpPr>
        <p:spPr>
          <a:xfrm>
            <a:off x="914400" y="1691640"/>
            <a:ext cx="2194560" cy="38100"/>
          </a:xfrm>
          <a:prstGeom prst="rect">
            <a:avLst/>
          </a:prstGeom>
          <a:solidFill>
            <a:srgbClr val="8A6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920240"/>
            <a:ext cx="10360152" cy="4206240"/>
          </a:xfrm>
          <a:prstGeom prst="rect">
            <a:avLst/>
          </a:prstGeom>
          <a:noFill/>
        </p:spPr>
        <p:txBody>
          <a:bodyPr wrap="square" anchor="t">
            <a:spAutoFit/>
          </a:bodyPr>
          <a:lstStyle/>
          <a:p>
            <a:pPr>
              <a:spcAft>
                <a:spcPts val="400"/>
              </a:spcAft>
            </a:pPr>
            <a:r>
              <a:rPr sz="1200" b="0" i="0">
                <a:solidFill>
                  <a:srgbClr val="202020"/>
                </a:solidFill>
                <a:latin typeface="Calibri"/>
              </a:rPr>
              <a:t>1. Saint Vitus Cathedral, interior (c. 1924–1928) — source / license: ____</a:t>
            </a:r>
          </a:p>
          <a:p>
            <a:pPr>
              <a:spcAft>
                <a:spcPts val="400"/>
              </a:spcAft>
            </a:pPr>
            <a:r>
              <a:rPr sz="1200" b="0" i="0">
                <a:solidFill>
                  <a:srgbClr val="202020"/>
                </a:solidFill>
                <a:latin typeface="Calibri"/>
              </a:rPr>
              <a:t>2. Prague Panorama, misty city (c. 1950s–1960s) — source / license: ____</a:t>
            </a:r>
          </a:p>
          <a:p>
            <a:pPr>
              <a:spcAft>
                <a:spcPts val="400"/>
              </a:spcAft>
            </a:pPr>
            <a:r>
              <a:rPr sz="1200" b="0" i="0">
                <a:solidFill>
                  <a:srgbClr val="202020"/>
                </a:solidFill>
                <a:latin typeface="Calibri"/>
              </a:rPr>
              <a:t>3. Prague at Night (c. 1950s) — source / license: ____</a:t>
            </a:r>
          </a:p>
          <a:p>
            <a:pPr>
              <a:spcAft>
                <a:spcPts val="400"/>
              </a:spcAft>
            </a:pPr>
            <a:r>
              <a:rPr sz="1200" b="0" i="0">
                <a:solidFill>
                  <a:srgbClr val="202020"/>
                </a:solidFill>
                <a:latin typeface="Calibri"/>
              </a:rPr>
              <a:t>4. Mionší Forest, mist in the woods (c. 1950s) — source / license: ____</a:t>
            </a:r>
          </a:p>
          <a:p>
            <a:pPr>
              <a:spcAft>
                <a:spcPts val="400"/>
              </a:spcAft>
            </a:pPr>
            <a:r>
              <a:rPr sz="1200" b="0" i="0">
                <a:solidFill>
                  <a:srgbClr val="202020"/>
                </a:solidFill>
                <a:latin typeface="Calibri"/>
              </a:rPr>
              <a:t>5. The Window of My Studio (c. 1940–1948) — source / license: ____</a:t>
            </a:r>
          </a:p>
          <a:p>
            <a:pPr>
              <a:spcAft>
                <a:spcPts val="400"/>
              </a:spcAft>
            </a:pPr>
            <a:r>
              <a:rPr sz="1200" b="0" i="0">
                <a:solidFill>
                  <a:srgbClr val="202020"/>
                </a:solidFill>
                <a:latin typeface="Calibri"/>
              </a:rPr>
              <a:t>6. The Last Rose (c. 1956) — source / license: ____</a:t>
            </a:r>
          </a:p>
          <a:p>
            <a:pPr>
              <a:spcAft>
                <a:spcPts val="400"/>
              </a:spcAft>
            </a:pPr>
            <a:r>
              <a:rPr sz="1200" b="0" i="0">
                <a:solidFill>
                  <a:srgbClr val="202020"/>
                </a:solidFill>
                <a:latin typeface="Calibri"/>
              </a:rPr>
              <a:t>7. Glass and Egg (Labyrinths) (c. 1950s) — source / license: ____</a:t>
            </a:r>
          </a:p>
          <a:p>
            <a:pPr>
              <a:spcAft>
                <a:spcPts val="400"/>
              </a:spcAft>
            </a:pPr>
            <a:r>
              <a:rPr sz="1200" b="0" i="0">
                <a:solidFill>
                  <a:srgbClr val="202020"/>
                </a:solidFill>
                <a:latin typeface="Calibri"/>
              </a:rPr>
              <a:t>8. Still life with Bread and Glass (c. 1950s) — source / license: ____</a:t>
            </a:r>
          </a:p>
          <a:p>
            <a:pPr>
              <a:spcAft>
                <a:spcPts val="400"/>
              </a:spcAft>
            </a:pPr>
            <a:r>
              <a:rPr sz="1200" b="0" i="0">
                <a:solidFill>
                  <a:srgbClr val="202020"/>
                </a:solidFill>
                <a:latin typeface="Calibri"/>
              </a:rPr>
              <a:t>9. Window — view to the garden, summer (c. 1940s) — source / license: ____</a:t>
            </a:r>
          </a:p>
          <a:p>
            <a:pPr>
              <a:spcAft>
                <a:spcPts val="400"/>
              </a:spcAft>
            </a:pPr>
            <a:r>
              <a:rPr sz="1200" b="0" i="0">
                <a:solidFill>
                  <a:srgbClr val="202020"/>
                </a:solidFill>
                <a:latin typeface="Calibri"/>
              </a:rPr>
              <a:t>10. Window — frost, winter (c. 1940s–1950s) — source / license: ____</a:t>
            </a:r>
          </a:p>
          <a:p>
            <a:pPr>
              <a:spcAft>
                <a:spcPts val="400"/>
              </a:spcAft>
            </a:pPr>
            <a:r>
              <a:rPr sz="1200" b="0" i="0">
                <a:solidFill>
                  <a:srgbClr val="202020"/>
                </a:solidFill>
                <a:latin typeface="Calibri"/>
              </a:rPr>
              <a:t>11. A Walk in the Magic Garden I (c. 1954) — source / license: ____</a:t>
            </a:r>
          </a:p>
          <a:p>
            <a:pPr>
              <a:spcAft>
                <a:spcPts val="400"/>
              </a:spcAft>
            </a:pPr>
            <a:r>
              <a:rPr sz="1200" b="0" i="0">
                <a:solidFill>
                  <a:srgbClr val="202020"/>
                </a:solidFill>
                <a:latin typeface="Calibri"/>
              </a:rPr>
              <a:t>12. A Walk in the Magic Garden II (c. 1960s) — source / license: ____</a:t>
            </a:r>
          </a:p>
          <a:p>
            <a:pPr>
              <a:spcAft>
                <a:spcPts val="400"/>
              </a:spcAft>
            </a:pPr>
            <a:r>
              <a:rPr sz="1200" b="0" i="0">
                <a:solidFill>
                  <a:srgbClr val="202020"/>
                </a:solidFill>
                <a:latin typeface="Calibri"/>
              </a:rPr>
              <a:t>13. Prague Panorama — empty street/square (c. 1950s–1960s) — source / license: ____</a:t>
            </a:r>
          </a:p>
          <a:p>
            <a:pPr>
              <a:spcAft>
                <a:spcPts val="400"/>
              </a:spcAft>
            </a:pPr>
            <a:r>
              <a:rPr sz="1200" b="0" i="0">
                <a:solidFill>
                  <a:srgbClr val="202020"/>
                </a:solidFill>
                <a:latin typeface="Calibri"/>
              </a:rPr>
              <a:t>14. Veteran from the Invalidovna (c. 1922–1927) — source / license: ____</a:t>
            </a:r>
          </a:p>
          <a:p>
            <a:pPr>
              <a:spcAft>
                <a:spcPts val="400"/>
              </a:spcAft>
            </a:pPr>
            <a:r>
              <a:rPr sz="1200" b="0" i="0">
                <a:solidFill>
                  <a:srgbClr val="202020"/>
                </a:solidFill>
                <a:latin typeface="Calibri"/>
              </a:rPr>
              <a:t>15. A Chair in the Magic Garden / Remembrance (c. 1950s) — source / license: ____</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