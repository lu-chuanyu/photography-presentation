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want to introduce a photographer who saw the whole world through a single window — and who made every one of his images with only one hand. His name is Josef Sudek, often called 'the Poet of Prague.' My talk is The World in One Hand, and my single question is: how did a physical limitation become an artistic style?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 himself: Josef Sudek, born in 1896, who lived and worked almost his entire life in Prague. He made every one of his photographs with a single hand, using a heavy large-format camera. Keep his face in mind as we look at how he turned a wartime injury into one of the most poetic styles in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In the First World War he lost his right arm. For most people that would end a photographic career. But Sudek leaned into the limitation: he gave up fast, handheld photography and committed to the large-format view camera, which forces you to slow down. He spent almost his whole life in Prague. (1:30)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argument of this talk. Sudek's limitation pushed him toward one way of working — slow, close, and patient — and that became his signature style. I've organized his photographs not by subject, but by four qualities that grow from that single limitation: Slow, Close, Repeated, and Solitary.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did a limitation become a style? He lost his arm, so he worked slowly. He worked slowly, so he stayed close. He stayed close, so he repeated the same intimate subjects for years. Out of that came a body of work defined by stillness and solitude. The constraint didn't shrink his world — it concentrated it. (1:30)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shows us that creativity isn't about having more — more mobility, more subjects, more equipment. Sometimes it's about going deeper into less. His single hand, his single window, gave us some of the most poetic photographs of the twentieth century. Thank you for listening —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images are reproductions of works by Josef Sudek, whose estate still holds copyright (he died in 1976), shown here for educational, non-commercial use. The listed institutions are the suggested reference sources; verify the exact provenance and the title and year of each file you used against the holding institution before presenting. Full search links are in images/sources.md.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
        <p:nvSpPr>
          <p:cNvPr id="3" name="Rectangle 2"/>
          <p:cNvSpPr/>
          <p:nvPr/>
        </p:nvSpPr>
        <p:spPr>
          <a:xfrm>
            <a:off x="5184648" y="48463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ortrait.jpg"/>
          <p:cNvPicPr>
            <a:picLocks noChangeAspect="1"/>
          </p:cNvPicPr>
          <p:nvPr/>
        </p:nvPicPr>
        <p:blipFill>
          <a:blip r:embed="rId2"/>
          <a:stretch>
            <a:fillRect/>
          </a:stretch>
        </p:blipFill>
        <p:spPr>
          <a:xfrm>
            <a:off x="1013277" y="1005840"/>
            <a:ext cx="3825605" cy="4846320"/>
          </a:xfrm>
          <a:prstGeom prst="rect">
            <a:avLst/>
          </a:prstGeom>
          <a:effectLst/>
        </p:spPr>
      </p:pic>
      <p:sp>
        <p:nvSpPr>
          <p:cNvPr id="3" name="TextBox 2"/>
          <p:cNvSpPr txBox="1"/>
          <p:nvPr/>
        </p:nvSpPr>
        <p:spPr>
          <a:xfrm>
            <a:off x="5486400" y="1280160"/>
            <a:ext cx="5852160" cy="1280160"/>
          </a:xfrm>
          <a:prstGeom prst="rect">
            <a:avLst/>
          </a:prstGeom>
          <a:noFill/>
        </p:spPr>
        <p:txBody>
          <a:bodyPr wrap="square" anchor="t">
            <a:spAutoFit/>
          </a:bodyPr>
          <a:lstStyle/>
          <a:p>
            <a:r>
              <a:rPr sz="3600" b="1" i="0">
                <a:solidFill>
                  <a:srgbClr val="202020"/>
                </a:solidFill>
                <a:latin typeface="Calibri"/>
              </a:rPr>
              <a:t>Josef Sudek</a:t>
            </a:r>
          </a:p>
          <a:p>
            <a:r>
              <a:rPr sz="1800" b="0" i="1">
                <a:solidFill>
                  <a:srgbClr val="8A6D3B"/>
                </a:solidFill>
                <a:latin typeface="Calibri"/>
              </a:rPr>
              <a:t>1896–1976 · the Poet of Prague</a:t>
            </a:r>
          </a:p>
        </p:txBody>
      </p:sp>
      <p:sp>
        <p:nvSpPr>
          <p:cNvPr id="4" name="Rectangle 3"/>
          <p:cNvSpPr/>
          <p:nvPr/>
        </p:nvSpPr>
        <p:spPr>
          <a:xfrm>
            <a:off x="5532120" y="27889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0" y="3108960"/>
            <a:ext cx="5852160" cy="2926080"/>
          </a:xfrm>
          <a:prstGeom prst="rect">
            <a:avLst/>
          </a:prstGeom>
          <a:noFill/>
        </p:spPr>
        <p:txBody>
          <a:bodyPr wrap="square" anchor="t">
            <a:spAutoFit/>
          </a:bodyPr>
          <a:lstStyle/>
          <a:p>
            <a:pPr>
              <a:spcAft>
                <a:spcPts val="1000"/>
              </a:spcAft>
            </a:pPr>
            <a:r>
              <a:rPr sz="1800" b="0" i="0">
                <a:solidFill>
                  <a:srgbClr val="202020"/>
                </a:solidFill>
                <a:latin typeface="Calibri"/>
              </a:rPr>
              <a:t>Czech photographer who spent his life in Prague.</a:t>
            </a:r>
          </a:p>
          <a:p>
            <a:pPr>
              <a:spcAft>
                <a:spcPts val="1000"/>
              </a:spcAft>
            </a:pPr>
            <a:r>
              <a:rPr sz="1800" b="0" i="0">
                <a:solidFill>
                  <a:srgbClr val="202020"/>
                </a:solidFill>
                <a:latin typeface="Calibri"/>
              </a:rPr>
              <a:t>Lost his right arm in the First World War.</a:t>
            </a:r>
          </a:p>
          <a:p>
            <a:pPr>
              <a:spcAft>
                <a:spcPts val="1000"/>
              </a:spcAft>
            </a:pPr>
            <a:r>
              <a:rPr sz="1800" b="0" i="0">
                <a:solidFill>
                  <a:srgbClr val="202020"/>
                </a:solidFill>
                <a:latin typeface="Calibri"/>
              </a:rPr>
              <a:t>Worked one-handed with a large-format view camera.</a:t>
            </a:r>
          </a:p>
          <a:p>
            <a:pPr>
              <a:spcAft>
                <a:spcPts val="1000"/>
              </a:spcAft>
            </a:pPr>
            <a:r>
              <a:rPr sz="1800" b="0" i="0">
                <a:solidFill>
                  <a:srgbClr val="202020"/>
                </a:solidFill>
                <a:latin typeface="Calibri"/>
              </a:rPr>
              <a:t>Turned that limitation into a slow, quiet, poetic style.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1.jpeg"/>
          <p:cNvPicPr>
            <a:picLocks noChangeAspect="1"/>
          </p:cNvPicPr>
          <p:nvPr/>
        </p:nvPicPr>
        <p:blipFill>
          <a:blip r:embed="rId2"/>
          <a:stretch>
            <a:fillRect/>
          </a:stretch>
        </p:blipFill>
        <p:spPr>
          <a:xfrm>
            <a:off x="1861856" y="640080"/>
            <a:ext cx="5237408"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2.jpeg"/>
          <p:cNvPicPr>
            <a:picLocks noChangeAspect="1"/>
          </p:cNvPicPr>
          <p:nvPr/>
        </p:nvPicPr>
        <p:blipFill>
          <a:blip r:embed="rId2"/>
          <a:stretch>
            <a:fillRect/>
          </a:stretch>
        </p:blipFill>
        <p:spPr>
          <a:xfrm>
            <a:off x="640080" y="2301586"/>
            <a:ext cx="7680960" cy="2254827"/>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3.jpeg"/>
          <p:cNvPicPr>
            <a:picLocks noChangeAspect="1"/>
          </p:cNvPicPr>
          <p:nvPr/>
        </p:nvPicPr>
        <p:blipFill>
          <a:blip r:embed="rId2"/>
          <a:stretch>
            <a:fillRect/>
          </a:stretch>
        </p:blipFill>
        <p:spPr>
          <a:xfrm>
            <a:off x="2361134" y="640080"/>
            <a:ext cx="423885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4.jpeg"/>
          <p:cNvPicPr>
            <a:picLocks noChangeAspect="1"/>
          </p:cNvPicPr>
          <p:nvPr/>
        </p:nvPicPr>
        <p:blipFill>
          <a:blip r:embed="rId2"/>
          <a:stretch>
            <a:fillRect/>
          </a:stretch>
        </p:blipFill>
        <p:spPr>
          <a:xfrm>
            <a:off x="2371439" y="640080"/>
            <a:ext cx="421824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5.jpeg"/>
          <p:cNvPicPr>
            <a:picLocks noChangeAspect="1"/>
          </p:cNvPicPr>
          <p:nvPr/>
        </p:nvPicPr>
        <p:blipFill>
          <a:blip r:embed="rId2"/>
          <a:stretch>
            <a:fillRect/>
          </a:stretch>
        </p:blipFill>
        <p:spPr>
          <a:xfrm>
            <a:off x="2495839" y="640080"/>
            <a:ext cx="396944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6.jpeg"/>
          <p:cNvPicPr>
            <a:picLocks noChangeAspect="1"/>
          </p:cNvPicPr>
          <p:nvPr/>
        </p:nvPicPr>
        <p:blipFill>
          <a:blip r:embed="rId2"/>
          <a:stretch>
            <a:fillRect/>
          </a:stretch>
        </p:blipFill>
        <p:spPr>
          <a:xfrm>
            <a:off x="2212819" y="640080"/>
            <a:ext cx="453548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7.jpeg"/>
          <p:cNvPicPr>
            <a:picLocks noChangeAspect="1"/>
          </p:cNvPicPr>
          <p:nvPr/>
        </p:nvPicPr>
        <p:blipFill>
          <a:blip r:embed="rId2"/>
          <a:stretch>
            <a:fillRect/>
          </a:stretch>
        </p:blipFill>
        <p:spPr>
          <a:xfrm>
            <a:off x="2279849" y="640080"/>
            <a:ext cx="440142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8.jpeg"/>
          <p:cNvPicPr>
            <a:picLocks noChangeAspect="1"/>
          </p:cNvPicPr>
          <p:nvPr/>
        </p:nvPicPr>
        <p:blipFill>
          <a:blip r:embed="rId2"/>
          <a:stretch>
            <a:fillRect/>
          </a:stretch>
        </p:blipFill>
        <p:spPr>
          <a:xfrm>
            <a:off x="2417667" y="640080"/>
            <a:ext cx="412578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9.jpeg"/>
          <p:cNvPicPr>
            <a:picLocks noChangeAspect="1"/>
          </p:cNvPicPr>
          <p:nvPr/>
        </p:nvPicPr>
        <p:blipFill>
          <a:blip r:embed="rId2"/>
          <a:stretch>
            <a:fillRect/>
          </a:stretch>
        </p:blipFill>
        <p:spPr>
          <a:xfrm>
            <a:off x="2435352" y="640080"/>
            <a:ext cx="409041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0.jpeg"/>
          <p:cNvPicPr>
            <a:picLocks noChangeAspect="1"/>
          </p:cNvPicPr>
          <p:nvPr/>
        </p:nvPicPr>
        <p:blipFill>
          <a:blip r:embed="rId2"/>
          <a:stretch>
            <a:fillRect/>
          </a:stretch>
        </p:blipFill>
        <p:spPr>
          <a:xfrm>
            <a:off x="2812095" y="640080"/>
            <a:ext cx="3336930"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1.jpeg"/>
          <p:cNvPicPr>
            <a:picLocks noChangeAspect="1"/>
          </p:cNvPicPr>
          <p:nvPr/>
        </p:nvPicPr>
        <p:blipFill>
          <a:blip r:embed="rId2"/>
          <a:stretch>
            <a:fillRect/>
          </a:stretch>
        </p:blipFill>
        <p:spPr>
          <a:xfrm>
            <a:off x="703242" y="640080"/>
            <a:ext cx="755463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2.jpeg"/>
          <p:cNvPicPr>
            <a:picLocks noChangeAspect="1"/>
          </p:cNvPicPr>
          <p:nvPr/>
        </p:nvPicPr>
        <p:blipFill>
          <a:blip r:embed="rId2"/>
          <a:stretch>
            <a:fillRect/>
          </a:stretch>
        </p:blipFill>
        <p:spPr>
          <a:xfrm>
            <a:off x="791244" y="640080"/>
            <a:ext cx="737863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3.jpeg"/>
          <p:cNvPicPr>
            <a:picLocks noChangeAspect="1"/>
          </p:cNvPicPr>
          <p:nvPr/>
        </p:nvPicPr>
        <p:blipFill>
          <a:blip r:embed="rId2"/>
          <a:stretch>
            <a:fillRect/>
          </a:stretch>
        </p:blipFill>
        <p:spPr>
          <a:xfrm>
            <a:off x="1726545" y="640080"/>
            <a:ext cx="5508029"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4.jpeg"/>
          <p:cNvPicPr>
            <a:picLocks noChangeAspect="1"/>
          </p:cNvPicPr>
          <p:nvPr/>
        </p:nvPicPr>
        <p:blipFill>
          <a:blip r:embed="rId2"/>
          <a:stretch>
            <a:fillRect/>
          </a:stretch>
        </p:blipFill>
        <p:spPr>
          <a:xfrm>
            <a:off x="2183187" y="640080"/>
            <a:ext cx="4594745"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5.jpeg"/>
          <p:cNvPicPr>
            <a:picLocks noChangeAspect="1"/>
          </p:cNvPicPr>
          <p:nvPr/>
        </p:nvPicPr>
        <p:blipFill>
          <a:blip r:embed="rId2"/>
          <a:stretch>
            <a:fillRect/>
          </a:stretch>
        </p:blipFill>
        <p:spPr>
          <a:xfrm>
            <a:off x="681859" y="640080"/>
            <a:ext cx="759740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548640"/>
            <a:ext cx="10360152" cy="822960"/>
          </a:xfrm>
          <a:prstGeom prst="rect">
            <a:avLst/>
          </a:prstGeom>
          <a:noFill/>
        </p:spPr>
        <p:txBody>
          <a:bodyPr wrap="square" anchor="t">
            <a:spAutoFit/>
          </a:bodyPr>
          <a:lstStyle/>
          <a:p>
            <a:r>
              <a:rPr sz="3000" b="1" i="0">
                <a:solidFill>
                  <a:srgbClr val="202020"/>
                </a:solidFill>
                <a:latin typeface="Calibri"/>
              </a:rPr>
              <a:t>Image Credits</a:t>
            </a:r>
          </a:p>
        </p:txBody>
      </p:sp>
      <p:sp>
        <p:nvSpPr>
          <p:cNvPr id="3" name="Rectangle 2"/>
          <p:cNvSpPr/>
          <p:nvPr/>
        </p:nvSpPr>
        <p:spPr>
          <a:xfrm>
            <a:off x="914400" y="137160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40"/>
            <a:ext cx="10360152" cy="548640"/>
          </a:xfrm>
          <a:prstGeom prst="rect">
            <a:avLst/>
          </a:prstGeom>
          <a:noFill/>
        </p:spPr>
        <p:txBody>
          <a:bodyPr wrap="square" anchor="t">
            <a:spAutoFit/>
          </a:bodyPr>
          <a:lstStyle/>
          <a:p>
            <a:r>
              <a:rPr sz="1300" b="0" i="1">
                <a:solidFill>
                  <a:srgbClr val="6E6A63"/>
                </a:solidFill>
                <a:latin typeface="Calibri"/>
              </a:rPr>
              <a:t>All photographs © Estate of Josef Sudek. Reproduced here for educational, non-commercial use only.</a:t>
            </a:r>
          </a:p>
        </p:txBody>
      </p:sp>
      <p:sp>
        <p:nvSpPr>
          <p:cNvPr id="5" name="TextBox 4"/>
          <p:cNvSpPr txBox="1"/>
          <p:nvPr/>
        </p:nvSpPr>
        <p:spPr>
          <a:xfrm>
            <a:off x="914400" y="2057400"/>
            <a:ext cx="10360152" cy="4206240"/>
          </a:xfrm>
          <a:prstGeom prst="rect">
            <a:avLst/>
          </a:prstGeom>
          <a:noFill/>
        </p:spPr>
        <p:txBody>
          <a:bodyPr wrap="square" anchor="t">
            <a:spAutoFit/>
          </a:bodyPr>
          <a:lstStyle/>
          <a:p>
            <a:pPr>
              <a:spcAft>
                <a:spcPts val="300"/>
              </a:spcAft>
            </a:pPr>
            <a:r>
              <a:rPr sz="1100" b="0" i="0">
                <a:solidFill>
                  <a:srgbClr val="202020"/>
                </a:solidFill>
                <a:latin typeface="Calibri"/>
              </a:rPr>
              <a:t>1. Saint Vitus Cathedral, interior (c. 1924–1928) — National Gallery of Canada / Nasjonalmuseet</a:t>
            </a:r>
          </a:p>
          <a:p>
            <a:pPr>
              <a:spcAft>
                <a:spcPts val="300"/>
              </a:spcAft>
            </a:pPr>
            <a:r>
              <a:rPr sz="1100" b="0" i="0">
                <a:solidFill>
                  <a:srgbClr val="202020"/>
                </a:solidFill>
                <a:latin typeface="Calibri"/>
              </a:rPr>
              <a:t>2. Prague Panorama, misty city (c. 1950s–1960s) — Sudek panorama series — various public collections</a:t>
            </a:r>
          </a:p>
          <a:p>
            <a:pPr>
              <a:spcAft>
                <a:spcPts val="300"/>
              </a:spcAft>
            </a:pPr>
            <a:r>
              <a:rPr sz="1100" b="0" i="0">
                <a:solidFill>
                  <a:srgbClr val="202020"/>
                </a:solidFill>
                <a:latin typeface="Calibri"/>
              </a:rPr>
              <a:t>3. Prague at Night (c. 1950s) — Sudek panorama series — various public collections</a:t>
            </a:r>
          </a:p>
          <a:p>
            <a:pPr>
              <a:spcAft>
                <a:spcPts val="300"/>
              </a:spcAft>
            </a:pPr>
            <a:r>
              <a:rPr sz="1100" b="0" i="0">
                <a:solidFill>
                  <a:srgbClr val="202020"/>
                </a:solidFill>
                <a:latin typeface="Calibri"/>
              </a:rPr>
              <a:t>4. Mionší Forest, mist in the woods (c. 1950s) — Sudek Project archive (sudekproject.cz)</a:t>
            </a:r>
          </a:p>
          <a:p>
            <a:pPr>
              <a:spcAft>
                <a:spcPts val="300"/>
              </a:spcAft>
            </a:pPr>
            <a:r>
              <a:rPr sz="1100" b="0" i="0">
                <a:solidFill>
                  <a:srgbClr val="202020"/>
                </a:solidFill>
                <a:latin typeface="Calibri"/>
              </a:rPr>
              <a:t>5. The Window of My Studio (c. 1940–1948) — Museum of Modern Art (MoMA) / National Gallery of Canada</a:t>
            </a:r>
          </a:p>
          <a:p>
            <a:pPr>
              <a:spcAft>
                <a:spcPts val="300"/>
              </a:spcAft>
            </a:pPr>
            <a:r>
              <a:rPr sz="1100" b="0" i="0">
                <a:solidFill>
                  <a:srgbClr val="202020"/>
                </a:solidFill>
                <a:latin typeface="Calibri"/>
              </a:rPr>
              <a:t>6. The Last Rose (c. 1956) — National Gallery of Canada</a:t>
            </a:r>
          </a:p>
          <a:p>
            <a:pPr>
              <a:spcAft>
                <a:spcPts val="300"/>
              </a:spcAft>
            </a:pPr>
            <a:r>
              <a:rPr sz="1100" b="0" i="0">
                <a:solidFill>
                  <a:srgbClr val="202020"/>
                </a:solidFill>
                <a:latin typeface="Calibri"/>
              </a:rPr>
              <a:t>7. Glass and Egg (Labyrinths) (c. 1950s) — Sudek Project archive (sudekproject.cz)</a:t>
            </a:r>
          </a:p>
          <a:p>
            <a:pPr>
              <a:spcAft>
                <a:spcPts val="300"/>
              </a:spcAft>
            </a:pPr>
            <a:r>
              <a:rPr sz="1100" b="0" i="0">
                <a:solidFill>
                  <a:srgbClr val="202020"/>
                </a:solidFill>
                <a:latin typeface="Calibri"/>
              </a:rPr>
              <a:t>8. Still life with Bread and Glass (c. 1950s) — Sudek Project archive (sudekproject.cz)</a:t>
            </a:r>
          </a:p>
          <a:p>
            <a:pPr>
              <a:spcAft>
                <a:spcPts val="300"/>
              </a:spcAft>
            </a:pPr>
            <a:r>
              <a:rPr sz="1100" b="0" i="0">
                <a:solidFill>
                  <a:srgbClr val="202020"/>
                </a:solidFill>
                <a:latin typeface="Calibri"/>
              </a:rPr>
              <a:t>9. Window — view to the garden, summer (c. 1940s) — Museum of Modern Art (MoMA)</a:t>
            </a:r>
          </a:p>
          <a:p>
            <a:pPr>
              <a:spcAft>
                <a:spcPts val="300"/>
              </a:spcAft>
            </a:pPr>
            <a:r>
              <a:rPr sz="1100" b="0" i="0">
                <a:solidFill>
                  <a:srgbClr val="202020"/>
                </a:solidFill>
                <a:latin typeface="Calibri"/>
              </a:rPr>
              <a:t>10. Window — frost, winter (c. 1940s–1950s) — Museum of Modern Art (MoMA)</a:t>
            </a:r>
          </a:p>
          <a:p>
            <a:pPr>
              <a:spcAft>
                <a:spcPts val="300"/>
              </a:spcAft>
            </a:pPr>
            <a:r>
              <a:rPr sz="1100" b="0" i="0">
                <a:solidFill>
                  <a:srgbClr val="202020"/>
                </a:solidFill>
                <a:latin typeface="Calibri"/>
              </a:rPr>
              <a:t>11. A Walk in the Magic Garden I (c. 1954) — Museum of Modern Art (MoMA)</a:t>
            </a:r>
          </a:p>
          <a:p>
            <a:pPr>
              <a:spcAft>
                <a:spcPts val="300"/>
              </a:spcAft>
            </a:pPr>
            <a:r>
              <a:rPr sz="1100" b="0" i="0">
                <a:solidFill>
                  <a:srgbClr val="202020"/>
                </a:solidFill>
                <a:latin typeface="Calibri"/>
              </a:rPr>
              <a:t>12. A Walk in the Magic Garden II (c. 1960s) — National Gallery of Canada</a:t>
            </a:r>
          </a:p>
          <a:p>
            <a:pPr>
              <a:spcAft>
                <a:spcPts val="300"/>
              </a:spcAft>
            </a:pPr>
            <a:r>
              <a:rPr sz="1100" b="0" i="0">
                <a:solidFill>
                  <a:srgbClr val="202020"/>
                </a:solidFill>
                <a:latin typeface="Calibri"/>
              </a:rPr>
              <a:t>13. Prague Panorama — empty street/square (c. 1950s–1960s) — Sudek panorama series — various public collections</a:t>
            </a:r>
          </a:p>
          <a:p>
            <a:pPr>
              <a:spcAft>
                <a:spcPts val="300"/>
              </a:spcAft>
            </a:pPr>
            <a:r>
              <a:rPr sz="1100" b="0" i="0">
                <a:solidFill>
                  <a:srgbClr val="202020"/>
                </a:solidFill>
                <a:latin typeface="Calibri"/>
              </a:rPr>
              <a:t>14. Veteran from the Invalidovna (c. 1922–1927) — Sudek Project archive (sudekproject.cz)</a:t>
            </a:r>
          </a:p>
          <a:p>
            <a:pPr>
              <a:spcAft>
                <a:spcPts val="300"/>
              </a:spcAft>
            </a:pPr>
            <a:r>
              <a:rPr sz="1100" b="0" i="0">
                <a:solidFill>
                  <a:srgbClr val="202020"/>
                </a:solidFill>
                <a:latin typeface="Calibri"/>
              </a:rPr>
              <a:t>15. A Chair in the Magic Garden / Remembrance (c. 1950s) — Cleveland Museum of Art / National Gallery of Canada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